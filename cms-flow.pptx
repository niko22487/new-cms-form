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3172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21E78"/>
                </a:solidFill>
                <a:latin typeface="Arial"/>
              </a:rPr>
              <a:t>WIX FORMS  ×  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4F4F6"/>
                </a:solidFill>
                <a:latin typeface="Arial"/>
              </a:rPr>
              <a:t>Connecting a form to the 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03320"/>
            <a:ext cx="94457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A0A3AB"/>
                </a:solidFill>
                <a:latin typeface="Arial"/>
              </a:rPr>
              <a:t>End-to-end flow in the Wix Editor — and switching the form to the Wix Forms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21E78"/>
                </a:solidFill>
                <a:latin typeface="Arial"/>
              </a:rPr>
              <a:t>STEP 1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4F4F6"/>
                </a:solidFill>
                <a:latin typeface="Arial"/>
              </a:rPr>
              <a:t>Open the CMS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152144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0A3AB"/>
                </a:solidFill>
                <a:latin typeface="Arial"/>
              </a:rPr>
              <a:t>In the Editor's Add panel, a dedicated CMS category offers Create new form, Generate with AI, or Add existing form.</a:t>
            </a:r>
          </a:p>
        </p:txBody>
      </p:sp>
      <p:pic>
        <p:nvPicPr>
          <p:cNvPr id="5" name="Picture 4" descr="01-el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938528"/>
            <a:ext cx="707456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21E78"/>
                </a:solidFill>
                <a:latin typeface="Arial"/>
              </a:rPr>
              <a:t>STEP 2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4F4F6"/>
                </a:solidFill>
                <a:latin typeface="Arial"/>
              </a:rPr>
              <a:t>Choose where submissions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152144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0A3AB"/>
                </a:solidFill>
                <a:latin typeface="Arial"/>
              </a:rPr>
              <a:t>When a form is added, choose its destination context — Wix Forms, or here a CMS Collection.</a:t>
            </a:r>
          </a:p>
        </p:txBody>
      </p:sp>
      <p:pic>
        <p:nvPicPr>
          <p:cNvPr id="5" name="Picture 4" descr="02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938528"/>
            <a:ext cx="707456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21E78"/>
                </a:solidFill>
                <a:latin typeface="Arial"/>
              </a:rPr>
              <a:t>STEP 3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4F4F6"/>
                </a:solidFill>
                <a:latin typeface="Arial"/>
              </a:rPr>
              <a:t>Pick the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152144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0A3AB"/>
                </a:solidFill>
                <a:latin typeface="Arial"/>
              </a:rPr>
              <a:t>Select which collection the form connects to. Its fields define the structure of the form.</a:t>
            </a:r>
          </a:p>
        </p:txBody>
      </p:sp>
      <p:pic>
        <p:nvPicPr>
          <p:cNvPr id="5" name="Picture 4" descr="03-cho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938528"/>
            <a:ext cx="707456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21E78"/>
                </a:solidFill>
                <a:latin typeface="Arial"/>
              </a:rPr>
              <a:t>STEP 4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4F4F6"/>
                </a:solidFill>
                <a:latin typeface="Arial"/>
              </a:rPr>
              <a:t>Connected to Recipes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152144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0A3AB"/>
                </a:solidFill>
                <a:latin typeface="Arial"/>
              </a:rPr>
              <a:t>The form lands on the canvas bound to the Recipes collection — shown by the pink “Connected to Recipes” boundary.</a:t>
            </a:r>
          </a:p>
        </p:txBody>
      </p:sp>
      <p:pic>
        <p:nvPicPr>
          <p:cNvPr id="5" name="Picture 4" descr="04-conn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938528"/>
            <a:ext cx="707456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21E78"/>
                </a:solidFill>
                <a:latin typeface="Arial"/>
              </a:rPr>
              <a:t>STEP 5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4F4F6"/>
                </a:solidFill>
                <a:latin typeface="Arial"/>
              </a:rPr>
              <a:t>Form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152144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0A3AB"/>
                </a:solidFill>
                <a:latin typeface="Arial"/>
              </a:rPr>
              <a:t>Selecting the form reveals its connection (Recipes Item) and what it does — add a new item or update an existing one.</a:t>
            </a:r>
          </a:p>
        </p:txBody>
      </p:sp>
      <p:pic>
        <p:nvPicPr>
          <p:cNvPr id="5" name="Picture 4" descr="05-formp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938528"/>
            <a:ext cx="707456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21E78"/>
                </a:solidFill>
                <a:latin typeface="Arial"/>
              </a:rPr>
              <a:t>STEP 6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4F4F6"/>
                </a:solidFill>
                <a:latin typeface="Arial"/>
              </a:rPr>
              <a:t>Field mapping &amp;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152144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0A3AB"/>
                </a:solidFill>
                <a:latin typeface="Arial"/>
              </a:rPr>
              <a:t>Each field shows the collection value it saves to (recipes.ingredients), plus placeholder, description and required — locked when defined by the collection.</a:t>
            </a:r>
          </a:p>
        </p:txBody>
      </p:sp>
      <p:pic>
        <p:nvPicPr>
          <p:cNvPr id="5" name="Picture 4" descr="06-fieldp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938528"/>
            <a:ext cx="707456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21E78"/>
                </a:solidFill>
                <a:latin typeface="Arial"/>
              </a:rPr>
              <a:t>STEP 7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4F4F6"/>
                </a:solidFill>
                <a:latin typeface="Arial"/>
              </a:rPr>
              <a:t>Submit button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152144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0A3AB"/>
                </a:solidFill>
                <a:latin typeface="Arial"/>
              </a:rPr>
              <a:t>The Submit button's on-click action is tied to the collection — recipes.item.new when adding a new item.</a:t>
            </a:r>
          </a:p>
        </p:txBody>
      </p:sp>
      <p:pic>
        <p:nvPicPr>
          <p:cNvPr id="5" name="Picture 4" descr="07-but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938528"/>
            <a:ext cx="707456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21E78"/>
                </a:solidFill>
                <a:latin typeface="Arial"/>
              </a:rPr>
              <a:t>STEP 8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4F4F6"/>
                </a:solidFill>
                <a:latin typeface="Arial"/>
              </a:rPr>
              <a:t>Update an existing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152144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0A3AB"/>
                </a:solidFill>
                <a:latin typeface="Arial"/>
              </a:rPr>
              <a:t>Switch to “Update existing” to pick an item; the form pre-loads it and the action becomes recipes.item.update.</a:t>
            </a:r>
          </a:p>
        </p:txBody>
      </p:sp>
      <p:pic>
        <p:nvPicPr>
          <p:cNvPr id="5" name="Picture 4" descr="08-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938528"/>
            <a:ext cx="707456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21E78"/>
                </a:solidFill>
                <a:latin typeface="Arial"/>
              </a:rPr>
              <a:t>STEP 9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4F4F6"/>
                </a:solidFill>
                <a:latin typeface="Arial"/>
              </a:rPr>
              <a:t>Switch the connection any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152144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0A3AB"/>
                </a:solidFill>
                <a:latin typeface="Arial"/>
              </a:rPr>
              <a:t>Clicking the connection card opens a picker to re-point the form at any context — Wix Forms, another collection, Members or Blog.</a:t>
            </a:r>
          </a:p>
        </p:txBody>
      </p:sp>
      <p:pic>
        <p:nvPicPr>
          <p:cNvPr id="5" name="Picture 4" descr="09-p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938528"/>
            <a:ext cx="707456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21E78"/>
                </a:solidFill>
                <a:latin typeface="Arial"/>
              </a:rPr>
              <a:t>STEP 10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03504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4F4F6"/>
                </a:solidFill>
                <a:latin typeface="Arial"/>
              </a:rPr>
              <a:t>Switched to Wix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152144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0A3AB"/>
                </a:solidFill>
                <a:latin typeface="Arial"/>
              </a:rPr>
              <a:t>Pick a Wix Form (e.g. Contact Us) and the same form element now submits to the Wix Forms context instead of the collection.</a:t>
            </a:r>
          </a:p>
        </p:txBody>
      </p:sp>
      <p:pic>
        <p:nvPicPr>
          <p:cNvPr id="5" name="Picture 4" descr="10-wix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938528"/>
            <a:ext cx="7074568" cy="480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